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pic>
        <p:nvPicPr>
          <p:cNvPr id="3" name="Image 0" descr="/home/claude/logo_s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09728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783080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Manchester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2487168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pioneer in youth voice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371600" y="32918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40k could ensure every child growing up in Manchester knows their voice matters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097280" y="3749040"/>
            <a:ext cx="6949440" cy="731520"/>
          </a:xfrm>
          <a:prstGeom prst="roundRect">
            <a:avLst>
              <a:gd name="adj" fmla="val 15000"/>
            </a:avLst>
          </a:prstGeom>
          <a:solidFill>
            <a:srgbClr val="EAF5EC"/>
          </a:solidFill>
          <a:ln w="12700">
            <a:solidFill>
              <a:srgbClr val="C3E6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80160" y="381304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8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want every young person in Greater Manchester to know that civic leadership is for them"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280160" y="4187952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Andy Burnham, Mayor of Greater Manchester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smartschoolcouncils.org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ambition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Manchester can ensure every child experiences real democracy in school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749808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54864" cy="749808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47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 a one-off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1671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permanent system, not a project that comes and goes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79192"/>
            <a:ext cx="8229600" cy="749808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79192"/>
            <a:ext cx="54864" cy="749808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for the confident few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063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pupil, every class, regardless of background or 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75304"/>
            <a:ext cx="8229600" cy="749808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75304"/>
            <a:ext cx="54864" cy="749808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393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in everyday school life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9593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 infrastructure, as routine as any other lesson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55371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one-off investment of as little as 40k can enable this seismic shift.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participation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rarely teach the most important civic skill: how to speak 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393192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190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Only the confident few take part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2491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Self-selected, same voices every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3697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Most pupils never get involved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Reinforces inequality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572768"/>
            <a:ext cx="393192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572768"/>
            <a:ext cx="3931920" cy="73152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7190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better infrastructure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56048" y="2212848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2212848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class, every pupil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56048" y="2724912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2724912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into the school routine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56048" y="3236976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3236976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rely on self-selection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749040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3749040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across all schools and settings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80974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doesn't need more encouragement. It needs a better infrastructure.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class, every week. Pupils lead. Teachers step back.</a:t>
            </a:r>
            <a:endParaRPr lang="en-US" sz="1400" dirty="0"/>
          </a:p>
        </p:txBody>
      </p:sp>
      <p:pic>
        <p:nvPicPr>
          <p:cNvPr id="5" name="Image 0" descr="/home/claude/photo_girl_point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536192"/>
            <a:ext cx="393192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54880" y="1536192"/>
            <a:ext cx="4023360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54880" y="1536192"/>
            <a:ext cx="4023360" cy="54864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7760" y="16459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practice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92040" y="2121408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48072" y="21214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Pupils lead short, structured discussions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92040" y="2578608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48072" y="25786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to 10 minutes per session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92040" y="3035808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148072" y="30358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Ready-made questions or set your own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92040" y="3493008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48072" y="34930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class takes part, not just reps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92040" y="3950208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148072" y="3950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shared back to school leadership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5760" y="393192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EAF5EC"/>
          </a:solidFill>
          <a:ln w="12700">
            <a:solidFill>
              <a:srgbClr val="C3E6C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4005072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8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"It's really nice to hear students who wouldn't ordinarily speak, want to not just interact in their groups, but also to lead as well."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6928" y="44805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Sarah, SEN secondary teacher, Greater Manchester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at scale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approach is already being implemented across all schools in Blackpool. And teachers in Greater Manchester describe tangible change.</a:t>
            </a:r>
            <a:endParaRPr lang="en-US" sz="1300" dirty="0"/>
          </a:p>
        </p:txBody>
      </p:sp>
      <p:pic>
        <p:nvPicPr>
          <p:cNvPr id="5" name="Image 0" descr="/home/claude/photo_kells_twe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600200"/>
            <a:ext cx="3977640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370832"/>
            <a:ext cx="3977640" cy="384048"/>
          </a:xfrm>
          <a:prstGeom prst="rect">
            <a:avLst/>
          </a:prstGeom>
          <a:solidFill>
            <a:srgbClr val="1A1A1A">
              <a:alpha val="75000"/>
            </a:srgbClr>
          </a:solidFill>
          <a:ln w="12700">
            <a:solidFill>
              <a:srgbClr val="1A1A1A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" y="440740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"Fir class love their Thursday morning class meeting. The children lead the meeting." Kells Lane Primary School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800600" y="1600200"/>
            <a:ext cx="3977640" cy="31546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00600" y="1600200"/>
            <a:ext cx="3977640" cy="54864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83480" y="17373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 schools, Greater Manchester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956048" y="224028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EAF5EC"/>
          </a:solidFill>
          <a:ln w="12700">
            <a:solidFill>
              <a:srgbClr val="C3E6C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57216" y="237744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"Through Smart School Council we were able to gauge pupil voice and now they've got a big summer house, gym equipment, swings, seesaws. It's made a genuine difference."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57216" y="354787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Katie, SEN trust advisor, Newbridge MAT, Greater Manchester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983480" y="395020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split-question format makes structured debate accessible for every pupil, regardless of need.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Greater Manchester is ready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new or untested approach.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36192"/>
            <a:ext cx="260604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72768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1762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nationally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536192"/>
            <a:ext cx="260604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572768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00400" y="21762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in GM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536192"/>
            <a:ext cx="260604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572768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035040" y="21762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schools potential</a:t>
            </a:r>
            <a:endParaRPr lang="en-US" sz="1100" dirty="0"/>
          </a:p>
        </p:txBody>
      </p:sp>
      <p:pic>
        <p:nvPicPr>
          <p:cNvPr id="14" name="Image 0" descr="/home/claude/photo_secondary_gir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2761488"/>
            <a:ext cx="4114800" cy="21031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663440" y="2761488"/>
            <a:ext cx="411480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2761488"/>
            <a:ext cx="4114800" cy="54864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28895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teachers told us about Manchester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46320" y="33101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"There's something in the water in Manchester about speaking up and social justice. If we're doing class meetings in every classroom anyway, why can't we connect this up?"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46320" y="42245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Teacher, Greater Manchester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teachers told 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met with teachers from across Greater Manchester. Three things came through in every conversation.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1752" y="1572768"/>
            <a:ext cx="2788920" cy="3310128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737360"/>
            <a:ext cx="749808" cy="749808"/>
          </a:xfrm>
          <a:prstGeom prst="ellipse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7373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66344" y="260604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pupil voice that reaches the children who don't usually speak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" y="3520440"/>
            <a:ext cx="2468880" cy="1115568"/>
          </a:xfrm>
          <a:prstGeom prst="roundRect">
            <a:avLst>
              <a:gd name="adj" fmla="val 8197"/>
            </a:avLst>
          </a:prstGeom>
          <a:solidFill>
            <a:srgbClr val="EAF5EC"/>
          </a:solidFill>
          <a:ln w="12700">
            <a:solidFill>
              <a:srgbClr val="C3E6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3584448"/>
            <a:ext cx="22677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2E8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really dislike the rep being voted in. That's exactly the opposite of what we do here. And I think that's why it works."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" y="4343400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Nicola, literacy coordinator, St John Vianney, Greater Manchester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27832" y="1572768"/>
            <a:ext cx="2788920" cy="3310128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737360"/>
            <a:ext cx="749808" cy="749808"/>
          </a:xfrm>
          <a:prstGeom prst="ellipse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7373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92424" y="260604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Pupils want to hear perspectives from across Greater Manchester, not just their own school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92424" y="3520440"/>
            <a:ext cx="2468880" cy="1115568"/>
          </a:xfrm>
          <a:prstGeom prst="roundRect">
            <a:avLst>
              <a:gd name="adj" fmla="val 8197"/>
            </a:avLst>
          </a:prstGeom>
          <a:solidFill>
            <a:srgbClr val="EAF5EC"/>
          </a:solidFill>
          <a:ln w="12700">
            <a:solidFill>
              <a:srgbClr val="C3E6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02152" y="3584448"/>
            <a:ext cx="22677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2E8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"Being able to see how the city answered - that's really powerful. It connects them to outside their own little bubble."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02152" y="4343400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Becky W, assistant head, all-boys secondary, South Manchester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53912" y="1572768"/>
            <a:ext cx="2788920" cy="3310128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78040" y="1737360"/>
            <a:ext cx="749808" cy="749808"/>
          </a:xfrm>
          <a:prstGeom prst="ellipse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17373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18504" y="260604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leaders ask for views, they must come back and show what happened next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18504" y="3520440"/>
            <a:ext cx="2468880" cy="1115568"/>
          </a:xfrm>
          <a:prstGeom prst="roundRect">
            <a:avLst>
              <a:gd name="adj" fmla="val 8197"/>
            </a:avLst>
          </a:prstGeom>
          <a:solidFill>
            <a:srgbClr val="EAF5EC"/>
          </a:solidFill>
          <a:ln w="12700">
            <a:solidFill>
              <a:srgbClr val="C3E6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3584448"/>
            <a:ext cx="22677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2E8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need them to come back to us. Even if it's no - as long as they're giving an answer."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28232" y="4343400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Nicola, literacy coordinator, St John Vianney, Greater Manchester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dirty="0">
                <a:solidFill>
                  <a:srgbClr val="EA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1097280" y="100584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spent a long time on it. We put it forward. That year group left and we didn't get anything back at all.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251460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do this in Manchester, it has to be different. Young people deserve a response.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345643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Nicola, literacy coordinator, St John Vianney, Greater Manchester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364992"/>
            <a:ext cx="1371600" cy="36576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programme, not just a platform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 told us a package with milestones motivates far better than an open invitation.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685800" cy="68580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C3E6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783080" y="2176272"/>
            <a:ext cx="210312" cy="0"/>
          </a:xfrm>
          <a:prstGeom prst="line">
            <a:avLst/>
          </a:prstGeom>
          <a:noFill/>
          <a:ln w="12700">
            <a:solidFill>
              <a:srgbClr val="C3E6C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74320" y="2651760"/>
            <a:ext cx="1508760" cy="23317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76148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218688"/>
            <a:ext cx="1325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enrolled, teachers onboarded, first shared questions set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93392" y="15087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Oct-Dec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04872" y="1828800"/>
            <a:ext cx="685800" cy="68580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C3E6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04872" y="1828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02152" y="2176272"/>
            <a:ext cx="210312" cy="0"/>
          </a:xfrm>
          <a:prstGeom prst="line">
            <a:avLst/>
          </a:prstGeom>
          <a:noFill/>
          <a:ln w="12700">
            <a:solidFill>
              <a:srgbClr val="C3E6C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993392" y="2651760"/>
            <a:ext cx="1508760" cy="23317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93392" y="276148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84832" y="3218688"/>
            <a:ext cx="1325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class meetings, city-wide themed questions, school sharing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12464" y="15087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Jan-Mar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23944" y="1828800"/>
            <a:ext cx="685800" cy="68580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C3E6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23944" y="1828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21224" y="2176272"/>
            <a:ext cx="210312" cy="0"/>
          </a:xfrm>
          <a:prstGeom prst="line">
            <a:avLst/>
          </a:prstGeom>
          <a:noFill/>
          <a:ln w="12700">
            <a:solidFill>
              <a:srgbClr val="C3E6C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712464" y="2651760"/>
            <a:ext cx="1508760" cy="23317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12464" y="276148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03904" y="3218688"/>
            <a:ext cx="1325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Borough-level insights, adapted for primary, secondary, SEN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31536" y="15087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Apr-Jun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43016" y="1828800"/>
            <a:ext cx="685800" cy="685800"/>
          </a:xfrm>
          <a:prstGeom prst="ellipse">
            <a:avLst/>
          </a:prstGeom>
          <a:solidFill>
            <a:srgbClr val="3CA246"/>
          </a:solidFill>
          <a:ln w="12700">
            <a:solidFill>
              <a:srgbClr val="2E8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43016" y="1828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40296" y="2176272"/>
            <a:ext cx="210312" cy="0"/>
          </a:xfrm>
          <a:prstGeom prst="line">
            <a:avLst/>
          </a:prstGeom>
          <a:noFill/>
          <a:ln w="12700">
            <a:solidFill>
              <a:srgbClr val="C3E6C8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431536" y="2651760"/>
            <a:ext cx="1508760" cy="23317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31536" y="2651760"/>
            <a:ext cx="1508760" cy="54864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31536" y="276148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22976" y="3218688"/>
            <a:ext cx="1325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event: students present to councillors, mayor responds publicly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50608" y="15087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62088" y="1828800"/>
            <a:ext cx="685800" cy="685800"/>
          </a:xfrm>
          <a:prstGeom prst="ellipse">
            <a:avLst/>
          </a:prstGeom>
          <a:solidFill>
            <a:srgbClr val="EAF5EC"/>
          </a:solidFill>
          <a:ln w="12700">
            <a:solidFill>
              <a:srgbClr val="C3E6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62088" y="1828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50608" y="2651760"/>
            <a:ext cx="1508760" cy="23317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150608" y="276148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42048" y="3218688"/>
            <a:ext cx="1325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report to all schools. What was heard. What happens next.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outcome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4041648" cy="148132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70432"/>
            <a:ext cx="54864" cy="1481328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639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pupil in Greater Manchester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experiences democracy in school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975104"/>
            <a:ext cx="3639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Inclusive, regular, structured, not self-selected or one-off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70432"/>
            <a:ext cx="4041648" cy="148132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70432"/>
            <a:ext cx="54864" cy="1481328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298448"/>
            <a:ext cx="3639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no longer depends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confidence or volunteering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56048" y="1975104"/>
            <a:ext cx="3639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children who never usually speak get to lead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52928"/>
            <a:ext cx="4041648" cy="148132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52928"/>
            <a:ext cx="54864" cy="1481328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980944"/>
            <a:ext cx="3639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Pupil voice becomes universal,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equitable, and routine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657600"/>
            <a:ext cx="3639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in everyday school life, not bolted 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52928"/>
            <a:ext cx="4041648" cy="148132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52928"/>
            <a:ext cx="54864" cy="1481328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2980944"/>
            <a:ext cx="3639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meet existing expectations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effectively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6048" y="3657600"/>
            <a:ext cx="3639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development, oracy, British Values, SMSC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462272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EAF5EC"/>
          </a:solidFill>
          <a:ln w="12700">
            <a:solidFill>
              <a:srgbClr val="C3E6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5079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Manchester becomes the first city-region to build a civic infrastructure for young people, starting in schools.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School Councils is a registered charity (no. 1156110), founded to help every child find their voice.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192024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6459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215798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using SSC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600200"/>
            <a:ext cx="192024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6459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215798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600200"/>
            <a:ext cx="192024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6459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17720" y="215798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in Greater Manchester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600200"/>
            <a:ext cx="1920240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6459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66560" y="215798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running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788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Proudly supported by</a:t>
            </a:r>
            <a:endParaRPr lang="en-US" sz="1200" dirty="0"/>
          </a:p>
        </p:txBody>
      </p:sp>
      <p:pic>
        <p:nvPicPr>
          <p:cNvPr id="18" name="Image 0" descr="/home/claude/logo_k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090672"/>
            <a:ext cx="914400" cy="9144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63040" y="3218688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Proudly supported by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Charles III Charitable Fund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00400" y="3127248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EAF5EC"/>
          </a:solidFill>
          <a:ln w="12700">
            <a:solidFill>
              <a:srgbClr val="C3E6C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83280" y="3218688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2E8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"Smart School Councils are great. Anybody who sees it in action can only be inspired."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383280" y="393192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Alastair Campbell, Writer and Communications Expert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46451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schools include: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Bramley Green Primary  |  Bernard's Academy  |  St John Vianney  |  Newbridge MAT  |  Beckfoot Allerton  |  Selworthy School  |  and 745 more</a:t>
            </a:r>
            <a:endParaRPr lang="en-US" sz="1000" dirty="0"/>
          </a:p>
        </p:txBody>
      </p:sp>
      <p:pic>
        <p:nvPicPr>
          <p:cNvPr id="25" name="Image 1" descr="/home/claude/logo_ss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09728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47472"/>
            <a:ext cx="8412480" cy="1691640"/>
          </a:xfrm>
          <a:prstGeom prst="roundRect">
            <a:avLst>
              <a:gd name="adj" fmla="val 9730"/>
            </a:avLst>
          </a:prstGeom>
          <a:solidFill>
            <a:srgbClr val="3CA246"/>
          </a:solidFill>
          <a:ln w="12700">
            <a:solidFill>
              <a:srgbClr val="3CA2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Greater Manchester build the classroom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for inclusive civic participation.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17627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one-off 40k investment to enable a Greater Manchester-wide civic infrastructure for young people.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633472"/>
            <a:ext cx="8412480" cy="475488"/>
          </a:xfrm>
          <a:prstGeom prst="roundRect">
            <a:avLst>
              <a:gd name="adj" fmla="val 34615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688336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688336"/>
            <a:ext cx="7790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the programme in every school in Greater Manchester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182112"/>
            <a:ext cx="8412480" cy="475488"/>
          </a:xfrm>
          <a:prstGeom prst="roundRect">
            <a:avLst>
              <a:gd name="adj" fmla="val 34615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3236976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236976"/>
            <a:ext cx="7790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cost as a barrier to participation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730752"/>
            <a:ext cx="8412480" cy="475488"/>
          </a:xfrm>
          <a:prstGeom prst="roundRect">
            <a:avLst>
              <a:gd name="adj" fmla="val 34615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3785616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785616"/>
            <a:ext cx="7790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shared learning and place-wide rollout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279392"/>
            <a:ext cx="8412480" cy="475488"/>
          </a:xfrm>
          <a:prstGeom prst="roundRect">
            <a:avLst>
              <a:gd name="adj" fmla="val 34615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4334256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A2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334256"/>
            <a:ext cx="7790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a sustainable system with accountability built in, not a time-limited project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736592"/>
            <a:ext cx="8412480" cy="256032"/>
          </a:xfrm>
          <a:prstGeom prst="roundRect">
            <a:avLst>
              <a:gd name="adj" fmla="val 28571"/>
            </a:avLst>
          </a:prstGeom>
          <a:solidFill>
            <a:srgbClr val="EAF5EC"/>
          </a:solidFill>
          <a:ln w="12700">
            <a:solidFill>
              <a:srgbClr val="C3E6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75488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8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would love to launch this going into next academic year 26/27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Making Manchester a pioneer in youth voice</dc:title>
  <dc:subject>PptxGenJS Presentation</dc:subject>
  <dc:creator>PptxGenJS</dc:creator>
  <cp:lastModifiedBy>PptxGenJS</cp:lastModifiedBy>
  <cp:revision>1</cp:revision>
  <dcterms:created xsi:type="dcterms:W3CDTF">2026-04-09T11:54:52Z</dcterms:created>
  <dcterms:modified xsi:type="dcterms:W3CDTF">2026-04-09T11:54:52Z</dcterms:modified>
</cp:coreProperties>
</file>